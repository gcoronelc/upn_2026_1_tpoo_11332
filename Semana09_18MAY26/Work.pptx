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58" r:id="rId5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8DF377-120F-60C9-7986-95C7C24341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7C69AB6-6862-2CE5-3B5B-8550CF7220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D4C5405-DD67-3728-230D-9C5759AAC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0A3E1-C9EC-4285-A7EA-81A27F5AB0EA}" type="datetimeFigureOut">
              <a:rPr lang="es-ES" smtClean="0"/>
              <a:t>19/05/2026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139B0E5-90BE-E384-0DBC-62809BB7D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D28D09-9AD7-7026-E772-2393BAECB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CCE58-E927-4775-91AD-9CD7CA81972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9058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FF72F0-A8A2-3DC1-FDDD-B8CAE1376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BA24CE4-4989-FB13-A1B4-CCFA2E8832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7F2F6D3-2D3A-2986-25D2-0A629058B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0A3E1-C9EC-4285-A7EA-81A27F5AB0EA}" type="datetimeFigureOut">
              <a:rPr lang="es-ES" smtClean="0"/>
              <a:t>19/05/2026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7C5E2A-A3DD-8CA2-A0CD-1A2AA0C0B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EFDD3C1-DDFB-17D0-E1A8-475D9D9B2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CCE58-E927-4775-91AD-9CD7CA81972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001971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2C8D43-1C9E-8E0E-417E-A700A759F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91A3850-0A23-7E2F-C6C1-08DBE74A92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5AA3E1A-59AB-EE25-0918-C5B6998FF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0A3E1-C9EC-4285-A7EA-81A27F5AB0EA}" type="datetimeFigureOut">
              <a:rPr lang="es-ES" smtClean="0"/>
              <a:t>19/05/2026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44E9943-A7C7-3FAE-31B0-EF3FE0348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48EDEF7-B322-E53B-DA55-DC61379A0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CCE58-E927-4775-91AD-9CD7CA81972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767801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E5110A-D8F2-E616-0524-8441850F1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85462D9-7781-B73C-2AA6-F7E1B26FEB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9B39366-0BF9-5BB7-A6E4-9F99963B42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84BF6E3-AC9F-F608-AD3D-C6D442298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0A3E1-C9EC-4285-A7EA-81A27F5AB0EA}" type="datetimeFigureOut">
              <a:rPr lang="es-ES" smtClean="0"/>
              <a:t>19/05/2026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EB42377-FA80-4317-9D61-850F1E578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95B22BF-F439-FADB-16C2-2B029BC5B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CCE58-E927-4775-91AD-9CD7CA81972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983561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6C07D3-2F02-0DFE-D23C-14F6B2A087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8CD7720-6D72-E7FE-F7F9-19D6FBF5D9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1043A1F-CE84-48F3-4E6E-038C6C9E96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4629A7C-FD23-08AD-5A15-99D709F415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A997E8E-6E39-AC7E-BE04-D855B0C893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C3B234F4-B3B6-9AD9-225A-01E323EF4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0A3E1-C9EC-4285-A7EA-81A27F5AB0EA}" type="datetimeFigureOut">
              <a:rPr lang="es-ES" smtClean="0"/>
              <a:t>19/05/2026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A41FBE3-5D0A-E1F1-858E-40ECE6938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48E032E1-C42B-727D-F8B3-5502E135B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CCE58-E927-4775-91AD-9CD7CA81972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434680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EED84B-1190-6A5E-1C97-BFE3214C6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98472F2-59CD-F0D6-B56A-C48203796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0A3E1-C9EC-4285-A7EA-81A27F5AB0EA}" type="datetimeFigureOut">
              <a:rPr lang="es-ES" smtClean="0"/>
              <a:t>19/05/2026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30A5829-E098-7339-F979-C432786E4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56900DA-6385-1938-5A4F-D6654C859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CCE58-E927-4775-91AD-9CD7CA81972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863049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253F70B3-8ACE-E37B-CFA4-6A0CC8B8A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0A3E1-C9EC-4285-A7EA-81A27F5AB0EA}" type="datetimeFigureOut">
              <a:rPr lang="es-ES" smtClean="0"/>
              <a:t>19/05/2026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631F2CFB-0706-973B-ED81-B53412F49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50A8B4B-7C31-19A5-6A02-5312C57D1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CCE58-E927-4775-91AD-9CD7CA81972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57422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0FD287-7533-0B3F-599A-6224793CD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1EBA7AF-A930-79FC-5938-88C715BB56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EE9557F-DCC5-5725-9672-6EFBC50062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062500B-352F-F06E-C91E-321A5825E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0A3E1-C9EC-4285-A7EA-81A27F5AB0EA}" type="datetimeFigureOut">
              <a:rPr lang="es-ES" smtClean="0"/>
              <a:t>19/05/2026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F225A32-83B3-FE71-D6FF-143B81CA5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5652755-281B-DDA3-92D8-061378A40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CCE58-E927-4775-91AD-9CD7CA81972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173193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E2B219-3242-5532-9E27-2079AA52B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FD6003F-9DAA-817A-5403-959DB7999B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F327BBE-D374-6243-F191-FADDCBF0CA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D5F3FDC-7EDA-3BCB-13AB-5F4830A85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0A3E1-C9EC-4285-A7EA-81A27F5AB0EA}" type="datetimeFigureOut">
              <a:rPr lang="es-ES" smtClean="0"/>
              <a:t>19/05/2026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C334720-DA17-B51B-8DB7-A1623A49C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3B869A1-6484-DC3D-704F-72956C24E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CCE58-E927-4775-91AD-9CD7CA81972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056025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794E5B-51B5-F03D-6857-506790C5A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7EEB8A5-DF77-66F6-E924-E6B4A2543D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4BBEE5B-D529-8419-7EEE-5E7194F3B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0A3E1-C9EC-4285-A7EA-81A27F5AB0EA}" type="datetimeFigureOut">
              <a:rPr lang="es-ES" smtClean="0"/>
              <a:t>19/05/2026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A5FA555-7D62-31D1-EC26-363AFBF30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1B70207-BBF4-9704-D665-F64A07194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CCE58-E927-4775-91AD-9CD7CA81972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691530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BA78B30-6DAF-ECAB-14B7-F9856691D1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F7F1279-24ED-5B97-D768-0EDBDF5311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792CE15-2F3F-3A9C-3725-31F6808A6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0A3E1-C9EC-4285-A7EA-81A27F5AB0EA}" type="datetimeFigureOut">
              <a:rPr lang="es-ES" smtClean="0"/>
              <a:t>19/05/2026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E562BBD-E491-4463-9CEE-D9F6FD15A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03EA3C7-4276-A2D8-3512-F80A7F1CA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CCE58-E927-4775-91AD-9CD7CA81972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364401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F590B52-2B86-CC9B-63F4-A32132972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A68322F-095D-39BF-90AD-169220820C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01568C3-2062-4301-E7AB-A56E86C68F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D0A3E1-C9EC-4285-A7EA-81A27F5AB0EA}" type="datetimeFigureOut">
              <a:rPr lang="es-ES" smtClean="0"/>
              <a:t>19/05/2026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A0E5400-B980-D785-5465-E53934634C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EF131C3-57BA-9A2D-A485-C2C20BEAA3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6CCE58-E927-4775-91AD-9CD7CA81972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647228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F4BFA606-EB22-E1B1-08B4-D5EBE2A724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1638" y="3297332"/>
            <a:ext cx="1406455" cy="887408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FC3C6C9B-79C4-F435-3E6B-097BDA2D98DD}"/>
              </a:ext>
            </a:extLst>
          </p:cNvPr>
          <p:cNvSpPr/>
          <p:nvPr/>
        </p:nvSpPr>
        <p:spPr>
          <a:xfrm>
            <a:off x="3933739" y="1229103"/>
            <a:ext cx="3306618" cy="17756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Service</a:t>
            </a:r>
          </a:p>
        </p:txBody>
      </p:sp>
      <p:sp>
        <p:nvSpPr>
          <p:cNvPr id="7" name="Flecha: a la derecha 6">
            <a:extLst>
              <a:ext uri="{FF2B5EF4-FFF2-40B4-BE49-F238E27FC236}">
                <a16:creationId xmlns:a16="http://schemas.microsoft.com/office/drawing/2014/main" id="{8DCFF65B-82C8-6CA3-D527-BAACAA3D156F}"/>
              </a:ext>
            </a:extLst>
          </p:cNvPr>
          <p:cNvSpPr/>
          <p:nvPr/>
        </p:nvSpPr>
        <p:spPr>
          <a:xfrm>
            <a:off x="2556256" y="1562766"/>
            <a:ext cx="1265382" cy="110836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4ED5930-A93D-70B7-4166-51C937CAD3E3}"/>
              </a:ext>
            </a:extLst>
          </p:cNvPr>
          <p:cNvSpPr txBox="1"/>
          <p:nvPr/>
        </p:nvSpPr>
        <p:spPr>
          <a:xfrm>
            <a:off x="1415714" y="2014255"/>
            <a:ext cx="8924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/>
              <a:t>idCurso</a:t>
            </a:r>
            <a:endParaRPr lang="es-ES" dirty="0"/>
          </a:p>
        </p:txBody>
      </p:sp>
      <p:sp>
        <p:nvSpPr>
          <p:cNvPr id="9" name="Cilindro 8">
            <a:extLst>
              <a:ext uri="{FF2B5EF4-FFF2-40B4-BE49-F238E27FC236}">
                <a16:creationId xmlns:a16="http://schemas.microsoft.com/office/drawing/2014/main" id="{DA6B89C5-9C04-AD46-F20A-423A0D16AF06}"/>
              </a:ext>
            </a:extLst>
          </p:cNvPr>
          <p:cNvSpPr/>
          <p:nvPr/>
        </p:nvSpPr>
        <p:spPr>
          <a:xfrm>
            <a:off x="4261630" y="4644248"/>
            <a:ext cx="2650836" cy="1209964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4800" dirty="0">
                <a:ln w="76200">
                  <a:solidFill>
                    <a:schemeClr val="tx1"/>
                  </a:solidFill>
                </a:ln>
                <a:solidFill>
                  <a:schemeClr val="accent4"/>
                </a:solidFill>
              </a:rPr>
              <a:t>BD</a:t>
            </a:r>
          </a:p>
        </p:txBody>
      </p: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087C2656-72C0-0D9D-AD20-97CCCCA3F4AB}"/>
              </a:ext>
            </a:extLst>
          </p:cNvPr>
          <p:cNvCxnSpPr>
            <a:stCxn id="9" idx="1"/>
            <a:endCxn id="6" idx="2"/>
          </p:cNvCxnSpPr>
          <p:nvPr/>
        </p:nvCxnSpPr>
        <p:spPr>
          <a:xfrm flipV="1">
            <a:off x="5587048" y="3004794"/>
            <a:ext cx="0" cy="1639454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Flecha: a la derecha 12">
            <a:extLst>
              <a:ext uri="{FF2B5EF4-FFF2-40B4-BE49-F238E27FC236}">
                <a16:creationId xmlns:a16="http://schemas.microsoft.com/office/drawing/2014/main" id="{8D16E0D6-646A-A0F1-3F73-FC9CA2059D74}"/>
              </a:ext>
            </a:extLst>
          </p:cNvPr>
          <p:cNvSpPr/>
          <p:nvPr/>
        </p:nvSpPr>
        <p:spPr>
          <a:xfrm>
            <a:off x="7352458" y="1460073"/>
            <a:ext cx="1265382" cy="110836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51F5041E-00B8-E0BE-4D28-B8F350CEEF0F}"/>
              </a:ext>
            </a:extLst>
          </p:cNvPr>
          <p:cNvSpPr txBox="1"/>
          <p:nvPr/>
        </p:nvSpPr>
        <p:spPr>
          <a:xfrm>
            <a:off x="8729941" y="1348623"/>
            <a:ext cx="2327564" cy="1331263"/>
          </a:xfrm>
          <a:prstGeom prst="rect">
            <a:avLst/>
          </a:prstGeom>
          <a:noFill/>
        </p:spPr>
        <p:txBody>
          <a:bodyPr wrap="square" rtlCol="0" anchor="ctr" anchorCtr="0">
            <a:normAutofit/>
          </a:bodyPr>
          <a:lstStyle/>
          <a:p>
            <a:r>
              <a:rPr lang="es-ES" dirty="0"/>
              <a:t>List&lt;DTO&gt;</a:t>
            </a:r>
          </a:p>
          <a:p>
            <a:r>
              <a:rPr lang="es-ES" dirty="0"/>
              <a:t>ó</a:t>
            </a:r>
          </a:p>
          <a:p>
            <a:r>
              <a:rPr lang="es-ES" dirty="0"/>
              <a:t>List&lt;</a:t>
            </a:r>
            <a:r>
              <a:rPr lang="es-ES" dirty="0" err="1"/>
              <a:t>Map</a:t>
            </a:r>
            <a:r>
              <a:rPr lang="es-ES" dirty="0"/>
              <a:t>&lt;String,?&gt;&gt;</a:t>
            </a:r>
          </a:p>
        </p:txBody>
      </p:sp>
    </p:spTree>
    <p:extLst>
      <p:ext uri="{BB962C8B-B14F-4D97-AF65-F5344CB8AC3E}">
        <p14:creationId xmlns:p14="http://schemas.microsoft.com/office/powerpoint/2010/main" val="17514431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F4BFA606-EB22-E1B1-08B4-D5EBE2A724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1638" y="3297332"/>
            <a:ext cx="1406455" cy="887408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FC3C6C9B-79C4-F435-3E6B-097BDA2D98DD}"/>
              </a:ext>
            </a:extLst>
          </p:cNvPr>
          <p:cNvSpPr/>
          <p:nvPr/>
        </p:nvSpPr>
        <p:spPr>
          <a:xfrm>
            <a:off x="3933739" y="1229103"/>
            <a:ext cx="3306618" cy="17756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Service</a:t>
            </a:r>
          </a:p>
        </p:txBody>
      </p:sp>
      <p:sp>
        <p:nvSpPr>
          <p:cNvPr id="7" name="Flecha: a la derecha 6">
            <a:extLst>
              <a:ext uri="{FF2B5EF4-FFF2-40B4-BE49-F238E27FC236}">
                <a16:creationId xmlns:a16="http://schemas.microsoft.com/office/drawing/2014/main" id="{8DCFF65B-82C8-6CA3-D527-BAACAA3D156F}"/>
              </a:ext>
            </a:extLst>
          </p:cNvPr>
          <p:cNvSpPr/>
          <p:nvPr/>
        </p:nvSpPr>
        <p:spPr>
          <a:xfrm>
            <a:off x="2556256" y="1562766"/>
            <a:ext cx="1265382" cy="110836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4ED5930-A93D-70B7-4166-51C937CAD3E3}"/>
              </a:ext>
            </a:extLst>
          </p:cNvPr>
          <p:cNvSpPr txBox="1"/>
          <p:nvPr/>
        </p:nvSpPr>
        <p:spPr>
          <a:xfrm>
            <a:off x="1424858" y="1922815"/>
            <a:ext cx="8924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/>
              <a:t>idCurso</a:t>
            </a:r>
            <a:endParaRPr lang="es-ES" dirty="0"/>
          </a:p>
        </p:txBody>
      </p:sp>
      <p:sp>
        <p:nvSpPr>
          <p:cNvPr id="9" name="Cilindro 8">
            <a:extLst>
              <a:ext uri="{FF2B5EF4-FFF2-40B4-BE49-F238E27FC236}">
                <a16:creationId xmlns:a16="http://schemas.microsoft.com/office/drawing/2014/main" id="{DA6B89C5-9C04-AD46-F20A-423A0D16AF06}"/>
              </a:ext>
            </a:extLst>
          </p:cNvPr>
          <p:cNvSpPr/>
          <p:nvPr/>
        </p:nvSpPr>
        <p:spPr>
          <a:xfrm>
            <a:off x="4261630" y="4644248"/>
            <a:ext cx="2650836" cy="1209964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4800" dirty="0">
                <a:ln w="76200">
                  <a:solidFill>
                    <a:schemeClr val="tx1"/>
                  </a:solidFill>
                </a:ln>
                <a:solidFill>
                  <a:schemeClr val="accent4"/>
                </a:solidFill>
              </a:rPr>
              <a:t>BD</a:t>
            </a:r>
          </a:p>
        </p:txBody>
      </p: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087C2656-72C0-0D9D-AD20-97CCCCA3F4AB}"/>
              </a:ext>
            </a:extLst>
          </p:cNvPr>
          <p:cNvCxnSpPr>
            <a:stCxn id="9" idx="1"/>
            <a:endCxn id="6" idx="2"/>
          </p:cNvCxnSpPr>
          <p:nvPr/>
        </p:nvCxnSpPr>
        <p:spPr>
          <a:xfrm flipV="1">
            <a:off x="5587048" y="3004794"/>
            <a:ext cx="0" cy="1639454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Flecha: a la derecha 12">
            <a:extLst>
              <a:ext uri="{FF2B5EF4-FFF2-40B4-BE49-F238E27FC236}">
                <a16:creationId xmlns:a16="http://schemas.microsoft.com/office/drawing/2014/main" id="{8D16E0D6-646A-A0F1-3F73-FC9CA2059D74}"/>
              </a:ext>
            </a:extLst>
          </p:cNvPr>
          <p:cNvSpPr/>
          <p:nvPr/>
        </p:nvSpPr>
        <p:spPr>
          <a:xfrm>
            <a:off x="7352458" y="1460073"/>
            <a:ext cx="1265382" cy="110836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51F5041E-00B8-E0BE-4D28-B8F350CEEF0F}"/>
              </a:ext>
            </a:extLst>
          </p:cNvPr>
          <p:cNvSpPr txBox="1"/>
          <p:nvPr/>
        </p:nvSpPr>
        <p:spPr>
          <a:xfrm>
            <a:off x="8729940" y="1348623"/>
            <a:ext cx="2901227" cy="1331263"/>
          </a:xfrm>
          <a:prstGeom prst="rect">
            <a:avLst/>
          </a:prstGeom>
          <a:noFill/>
        </p:spPr>
        <p:txBody>
          <a:bodyPr wrap="square" rtlCol="0" anchor="ctr" anchorCtr="0">
            <a:normAutofit/>
          </a:bodyPr>
          <a:lstStyle/>
          <a:p>
            <a:r>
              <a:rPr lang="es-ES" dirty="0" err="1"/>
              <a:t>List</a:t>
            </a:r>
            <a:r>
              <a:rPr lang="es-ES" dirty="0"/>
              <a:t>&lt;</a:t>
            </a:r>
            <a:r>
              <a:rPr lang="es-ES" dirty="0" err="1"/>
              <a:t>AlumnoMatDto</a:t>
            </a:r>
            <a:r>
              <a:rPr lang="es-ES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39870802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1B31C0-23EF-4D86-7AA0-43076B5D4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A8590DA3-4D64-3354-19ED-1A420BEF80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548" y="1137025"/>
            <a:ext cx="5648556" cy="3564000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4BE4D42A-3057-5429-F33D-05032C008DBD}"/>
              </a:ext>
            </a:extLst>
          </p:cNvPr>
          <p:cNvSpPr txBox="1"/>
          <p:nvPr/>
        </p:nvSpPr>
        <p:spPr>
          <a:xfrm>
            <a:off x="6674177" y="1498862"/>
            <a:ext cx="4779390" cy="277148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r>
              <a:rPr lang="es-ES" sz="2400" dirty="0" err="1">
                <a:latin typeface="Consolas" panose="020B0609020204030204" pitchFamily="49" charset="0"/>
              </a:rPr>
              <a:t>while</a:t>
            </a:r>
            <a:r>
              <a:rPr lang="es-ES" sz="2400" dirty="0">
                <a:latin typeface="Consolas" panose="020B0609020204030204" pitchFamily="49" charset="0"/>
              </a:rPr>
              <a:t>( </a:t>
            </a:r>
            <a:r>
              <a:rPr lang="es-ES" sz="2400" dirty="0" err="1">
                <a:latin typeface="Consolas" panose="020B0609020204030204" pitchFamily="49" charset="0"/>
              </a:rPr>
              <a:t>rs.next</a:t>
            </a:r>
            <a:r>
              <a:rPr lang="es-ES" sz="2400" dirty="0">
                <a:latin typeface="Consolas" panose="020B0609020204030204" pitchFamily="49" charset="0"/>
              </a:rPr>
              <a:t>() ){</a:t>
            </a:r>
          </a:p>
          <a:p>
            <a:endParaRPr lang="es-ES" sz="2400" dirty="0">
              <a:latin typeface="Consolas" panose="020B0609020204030204" pitchFamily="49" charset="0"/>
            </a:endParaRPr>
          </a:p>
          <a:p>
            <a:endParaRPr lang="es-ES" sz="2400" dirty="0">
              <a:latin typeface="Consolas" panose="020B0609020204030204" pitchFamily="49" charset="0"/>
            </a:endParaRPr>
          </a:p>
          <a:p>
            <a:endParaRPr lang="es-ES" sz="2400" dirty="0">
              <a:latin typeface="Consolas" panose="020B0609020204030204" pitchFamily="49" charset="0"/>
            </a:endParaRPr>
          </a:p>
          <a:p>
            <a:r>
              <a:rPr lang="es-ES" sz="2400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821558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17C20290-A1D3-3900-78EE-5190A326E236}"/>
              </a:ext>
            </a:extLst>
          </p:cNvPr>
          <p:cNvSpPr txBox="1"/>
          <p:nvPr/>
        </p:nvSpPr>
        <p:spPr>
          <a:xfrm>
            <a:off x="923636" y="969818"/>
            <a:ext cx="10289309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800" dirty="0"/>
              <a:t>"Una transacción de base de datos es una unidad lógica de trabajo, correctamente demarcada en la capa de aplicación, compuesta por una o más operaciones sobre datos que deben ejecutarse en su totalidad o no ejecutarse en absoluto; cuyo flujo no debe ser interrumpido, alterado ni extendido por ningún agente externo — incluyendo lógica de negocio, servicios remotos o decisiones de codificación del programador — durante su ejecución; garantizando que su resultado sea equivalente al de una ejecución serial respecto de otras transacciones concurrentes, y que sus efectos, una vez confirmados, persistan ante cualquier fallo del sistema."</a:t>
            </a:r>
          </a:p>
        </p:txBody>
      </p:sp>
    </p:spTree>
    <p:extLst>
      <p:ext uri="{BB962C8B-B14F-4D97-AF65-F5344CB8AC3E}">
        <p14:creationId xmlns:p14="http://schemas.microsoft.com/office/powerpoint/2010/main" val="153248007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</TotalTime>
  <Words>137</Words>
  <Application>Microsoft Office PowerPoint</Application>
  <PresentationFormat>Panorámica</PresentationFormat>
  <Paragraphs>16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Consolas</vt:lpstr>
      <vt:lpstr>Tema de Office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Gustavo Coronel</dc:creator>
  <cp:lastModifiedBy>UPN</cp:lastModifiedBy>
  <cp:revision>5</cp:revision>
  <dcterms:created xsi:type="dcterms:W3CDTF">2026-05-01T14:39:52Z</dcterms:created>
  <dcterms:modified xsi:type="dcterms:W3CDTF">2026-05-19T13:21:53Z</dcterms:modified>
</cp:coreProperties>
</file>